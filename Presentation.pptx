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58" r:id="rId5"/>
    <p:sldId id="260" r:id="rId6"/>
    <p:sldId id="261" r:id="rId7"/>
    <p:sldId id="262" r:id="rId8"/>
    <p:sldId id="259"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47"/>
    <p:restoredTop sz="94691"/>
  </p:normalViewPr>
  <p:slideViewPr>
    <p:cSldViewPr snapToGrid="0">
      <p:cViewPr>
        <p:scale>
          <a:sx n="77" d="100"/>
          <a:sy n="77" d="100"/>
        </p:scale>
        <p:origin x="5088" y="3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9/22/26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9/22/26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9/22/26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9/22/26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9/22/26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9/22/26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9/22/26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9/22/26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9/22/26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9/22/26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9/22/26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9/22/26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060B-B495-5188-3EBE-06C37486BA75}"/>
              </a:ext>
            </a:extLst>
          </p:cNvPr>
          <p:cNvSpPr>
            <a:spLocks noGrp="1"/>
          </p:cNvSpPr>
          <p:nvPr>
            <p:ph type="ctrTitle"/>
          </p:nvPr>
        </p:nvSpPr>
        <p:spPr>
          <a:xfrm>
            <a:off x="2700298" y="1160441"/>
            <a:ext cx="5518066" cy="2268559"/>
          </a:xfrm>
        </p:spPr>
        <p:txBody>
          <a:bodyPr>
            <a:normAutofit fontScale="90000"/>
          </a:bodyPr>
          <a:lstStyle/>
          <a:p>
            <a:r>
              <a:rPr lang="en-US" dirty="0"/>
              <a:t>Matrix Multiplication &amp; Cache Optimizations </a:t>
            </a:r>
          </a:p>
        </p:txBody>
      </p:sp>
      <p:sp>
        <p:nvSpPr>
          <p:cNvPr id="4" name="TextBox 3">
            <a:extLst>
              <a:ext uri="{FF2B5EF4-FFF2-40B4-BE49-F238E27FC236}">
                <a16:creationId xmlns:a16="http://schemas.microsoft.com/office/drawing/2014/main" id="{CD25B09D-8A64-3837-EFCE-1137AFCB8A01}"/>
              </a:ext>
            </a:extLst>
          </p:cNvPr>
          <p:cNvSpPr txBox="1"/>
          <p:nvPr/>
        </p:nvSpPr>
        <p:spPr>
          <a:xfrm>
            <a:off x="6096000" y="4424516"/>
            <a:ext cx="2210862" cy="646331"/>
          </a:xfrm>
          <a:prstGeom prst="rect">
            <a:avLst/>
          </a:prstGeom>
          <a:noFill/>
        </p:spPr>
        <p:txBody>
          <a:bodyPr wrap="none" rtlCol="0">
            <a:spAutoFit/>
          </a:bodyPr>
          <a:lstStyle/>
          <a:p>
            <a:r>
              <a:rPr lang="en-US" dirty="0"/>
              <a:t>By Jacob Cordano</a:t>
            </a:r>
          </a:p>
          <a:p>
            <a:r>
              <a:rPr lang="en-US" dirty="0"/>
              <a:t>September 22 2026</a:t>
            </a:r>
          </a:p>
        </p:txBody>
      </p:sp>
    </p:spTree>
    <p:extLst>
      <p:ext uri="{BB962C8B-B14F-4D97-AF65-F5344CB8AC3E}">
        <p14:creationId xmlns:p14="http://schemas.microsoft.com/office/powerpoint/2010/main" val="366124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430D-8DF4-34BC-05F4-7EE687EC225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BF59D515-2469-0B52-91CD-843576F41C2D}"/>
              </a:ext>
            </a:extLst>
          </p:cNvPr>
          <p:cNvSpPr>
            <a:spLocks noGrp="1"/>
          </p:cNvSpPr>
          <p:nvPr>
            <p:ph idx="1"/>
          </p:nvPr>
        </p:nvSpPr>
        <p:spPr/>
        <p:txBody>
          <a:bodyPr/>
          <a:lstStyle/>
          <a:p>
            <a:r>
              <a:rPr lang="en-US" dirty="0"/>
              <a:t>Measure the performance of three different matrix multiplication algorithms</a:t>
            </a:r>
          </a:p>
          <a:p>
            <a:r>
              <a:rPr lang="en-US" dirty="0"/>
              <a:t>Create two matrix multiplication algorithms; one with caching and another without</a:t>
            </a:r>
          </a:p>
          <a:p>
            <a:r>
              <a:rPr lang="en-US" dirty="0"/>
              <a:t> Evaluate their performance based on resulting benchmarks</a:t>
            </a:r>
          </a:p>
          <a:p>
            <a:r>
              <a:rPr lang="en-US" dirty="0"/>
              <a:t>Compare each algorithm against one another</a:t>
            </a:r>
          </a:p>
          <a:p>
            <a:endParaRPr lang="en-US" dirty="0"/>
          </a:p>
        </p:txBody>
      </p:sp>
    </p:spTree>
    <p:extLst>
      <p:ext uri="{BB962C8B-B14F-4D97-AF65-F5344CB8AC3E}">
        <p14:creationId xmlns:p14="http://schemas.microsoft.com/office/powerpoint/2010/main" val="329166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67C5-F8C6-9351-A16A-A28EAE95764E}"/>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60A5FB0D-91DD-97D7-9965-EBF7E5C6B992}"/>
              </a:ext>
            </a:extLst>
          </p:cNvPr>
          <p:cNvSpPr>
            <a:spLocks noGrp="1"/>
          </p:cNvSpPr>
          <p:nvPr>
            <p:ph idx="1"/>
          </p:nvPr>
        </p:nvSpPr>
        <p:spPr/>
        <p:txBody>
          <a:bodyPr/>
          <a:lstStyle/>
          <a:p>
            <a:r>
              <a:rPr lang="en-US" dirty="0"/>
              <a:t>Given multiple sizes of matrices, how can we optimize them to make calculations faster</a:t>
            </a:r>
          </a:p>
          <a:p>
            <a:r>
              <a:rPr lang="en-US" dirty="0"/>
              <a:t>If we can already multiply two matrices with one algorithm, is there a way to rearrange it in a way that is more efficient, without sacrificing performance</a:t>
            </a:r>
          </a:p>
        </p:txBody>
      </p:sp>
    </p:spTree>
    <p:extLst>
      <p:ext uri="{BB962C8B-B14F-4D97-AF65-F5344CB8AC3E}">
        <p14:creationId xmlns:p14="http://schemas.microsoft.com/office/powerpoint/2010/main" val="159247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9359-D81B-B964-C688-AE065A24828E}"/>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F0377D08-63BD-C88D-E7D5-7EF1BEEE9326}"/>
              </a:ext>
            </a:extLst>
          </p:cNvPr>
          <p:cNvSpPr>
            <a:spLocks noGrp="1"/>
          </p:cNvSpPr>
          <p:nvPr>
            <p:ph idx="1"/>
          </p:nvPr>
        </p:nvSpPr>
        <p:spPr/>
        <p:txBody>
          <a:bodyPr/>
          <a:lstStyle/>
          <a:p>
            <a:r>
              <a:rPr lang="en-US" dirty="0"/>
              <a:t>Given three algorithms that compute the multiplication of identical matrix sizes, identify their performance</a:t>
            </a:r>
          </a:p>
          <a:p>
            <a:r>
              <a:rPr lang="en-US" dirty="0"/>
              <a:t>First evaluate a basic matrix multiplication implementation, then another with caching, and finally evaluate an implementation from </a:t>
            </a:r>
            <a:r>
              <a:rPr lang="en-US" dirty="0" err="1"/>
              <a:t>OpenBLAS</a:t>
            </a:r>
            <a:endParaRPr lang="en-US" dirty="0"/>
          </a:p>
        </p:txBody>
      </p:sp>
    </p:spTree>
    <p:extLst>
      <p:ext uri="{BB962C8B-B14F-4D97-AF65-F5344CB8AC3E}">
        <p14:creationId xmlns:p14="http://schemas.microsoft.com/office/powerpoint/2010/main" val="308434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7BE61-DB51-BD55-1C78-293C0F5109B8}"/>
              </a:ext>
            </a:extLst>
          </p:cNvPr>
          <p:cNvSpPr>
            <a:spLocks noGrp="1"/>
          </p:cNvSpPr>
          <p:nvPr>
            <p:ph type="title"/>
          </p:nvPr>
        </p:nvSpPr>
        <p:spPr/>
        <p:txBody>
          <a:bodyPr/>
          <a:lstStyle/>
          <a:p>
            <a:r>
              <a:rPr lang="en-US" dirty="0"/>
              <a:t>DGEMM Basic</a:t>
            </a:r>
          </a:p>
        </p:txBody>
      </p:sp>
      <p:sp>
        <p:nvSpPr>
          <p:cNvPr id="3" name="Content Placeholder 2">
            <a:extLst>
              <a:ext uri="{FF2B5EF4-FFF2-40B4-BE49-F238E27FC236}">
                <a16:creationId xmlns:a16="http://schemas.microsoft.com/office/drawing/2014/main" id="{3D49E887-B605-6402-55A1-6DB4712A2030}"/>
              </a:ext>
            </a:extLst>
          </p:cNvPr>
          <p:cNvSpPr>
            <a:spLocks noGrp="1"/>
          </p:cNvSpPr>
          <p:nvPr>
            <p:ph idx="1"/>
          </p:nvPr>
        </p:nvSpPr>
        <p:spPr>
          <a:xfrm>
            <a:off x="7487479" y="1885285"/>
            <a:ext cx="3778400" cy="3997828"/>
          </a:xfrm>
        </p:spPr>
        <p:txBody>
          <a:bodyPr>
            <a:normAutofit fontScale="77500" lnSpcReduction="20000"/>
          </a:bodyPr>
          <a:lstStyle/>
          <a:p>
            <a:r>
              <a:rPr lang="en-US" dirty="0"/>
              <a:t>The DGEMM Basic algorithm is a triple nested loop that iterates through the rows and columns of the input </a:t>
            </a:r>
            <a:r>
              <a:rPr lang="en-US" dirty="0" err="1"/>
              <a:t>matricies</a:t>
            </a:r>
            <a:r>
              <a:rPr lang="en-US" dirty="0"/>
              <a:t>. </a:t>
            </a:r>
          </a:p>
          <a:p>
            <a:r>
              <a:rPr lang="en-US" dirty="0"/>
              <a:t>The outer loop iterates through the rows of the first matrix, the middle loop iterates through the columns of the second matrix, and the inner loop iterates through the columns of the first matrix and rows of the second matrix. </a:t>
            </a:r>
          </a:p>
          <a:p>
            <a:r>
              <a:rPr lang="en-US" dirty="0"/>
              <a:t>The inner loop performs the multiplication and addition to store the output in the output array.</a:t>
            </a:r>
          </a:p>
          <a:p>
            <a:endParaRPr lang="en-US" dirty="0"/>
          </a:p>
        </p:txBody>
      </p:sp>
      <p:sp>
        <p:nvSpPr>
          <p:cNvPr id="5" name="TextBox 4">
            <a:extLst>
              <a:ext uri="{FF2B5EF4-FFF2-40B4-BE49-F238E27FC236}">
                <a16:creationId xmlns:a16="http://schemas.microsoft.com/office/drawing/2014/main" id="{56FD7E33-45AE-6822-7F77-99B79C8E0F77}"/>
              </a:ext>
            </a:extLst>
          </p:cNvPr>
          <p:cNvSpPr txBox="1"/>
          <p:nvPr/>
        </p:nvSpPr>
        <p:spPr>
          <a:xfrm>
            <a:off x="1099931" y="1885285"/>
            <a:ext cx="6387548" cy="2585323"/>
          </a:xfrm>
          <a:prstGeom prst="rect">
            <a:avLst/>
          </a:prstGeom>
          <a:noFill/>
        </p:spPr>
        <p:txBody>
          <a:bodyPr wrap="square" rtlCol="0">
            <a:spAutoFit/>
          </a:bodyPr>
          <a:lstStyle/>
          <a:p>
            <a:r>
              <a:rPr lang="en-US" dirty="0"/>
              <a:t>void </a:t>
            </a:r>
            <a:r>
              <a:rPr lang="en-US" dirty="0" err="1"/>
              <a:t>square_dgemm</a:t>
            </a:r>
            <a:r>
              <a:rPr lang="en-US" dirty="0"/>
              <a:t>(int n, double* A, double* B, double* C) {</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for (int j = 0; j &lt; n; </a:t>
            </a:r>
            <a:r>
              <a:rPr lang="en-US" dirty="0" err="1"/>
              <a:t>j++</a:t>
            </a:r>
            <a:r>
              <a:rPr lang="en-US" dirty="0"/>
              <a:t>) {</a:t>
            </a:r>
          </a:p>
          <a:p>
            <a:r>
              <a:rPr lang="en-US" dirty="0"/>
              <a:t>      for (int k = 0; k &lt; n; k++) {</a:t>
            </a:r>
          </a:p>
          <a:p>
            <a:r>
              <a:rPr lang="en-US" dirty="0"/>
              <a:t>        C[n * </a:t>
            </a:r>
            <a:r>
              <a:rPr lang="en-US" dirty="0" err="1"/>
              <a:t>i</a:t>
            </a:r>
            <a:r>
              <a:rPr lang="en-US" dirty="0"/>
              <a:t> + j] += A[n * </a:t>
            </a:r>
            <a:r>
              <a:rPr lang="en-US" dirty="0" err="1"/>
              <a:t>i</a:t>
            </a:r>
            <a:r>
              <a:rPr lang="en-US" dirty="0"/>
              <a:t> + k] * B[n * k + j];</a:t>
            </a:r>
          </a:p>
          <a:p>
            <a:r>
              <a:rPr lang="en-US" dirty="0"/>
              <a:t>      }</a:t>
            </a:r>
          </a:p>
          <a:p>
            <a:r>
              <a:rPr lang="en-US" dirty="0"/>
              <a:t>    }</a:t>
            </a:r>
          </a:p>
          <a:p>
            <a:r>
              <a:rPr lang="en-US" dirty="0"/>
              <a:t>  }</a:t>
            </a:r>
          </a:p>
          <a:p>
            <a:r>
              <a:rPr lang="en-US" dirty="0"/>
              <a:t>}</a:t>
            </a:r>
          </a:p>
        </p:txBody>
      </p:sp>
    </p:spTree>
    <p:extLst>
      <p:ext uri="{BB962C8B-B14F-4D97-AF65-F5344CB8AC3E}">
        <p14:creationId xmlns:p14="http://schemas.microsoft.com/office/powerpoint/2010/main" val="1816179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8B85-B592-DA5B-EA4C-41B60DE4306A}"/>
              </a:ext>
            </a:extLst>
          </p:cNvPr>
          <p:cNvSpPr>
            <a:spLocks noGrp="1"/>
          </p:cNvSpPr>
          <p:nvPr>
            <p:ph type="title"/>
          </p:nvPr>
        </p:nvSpPr>
        <p:spPr/>
        <p:txBody>
          <a:bodyPr/>
          <a:lstStyle/>
          <a:p>
            <a:r>
              <a:rPr lang="en-US" dirty="0"/>
              <a:t>DGEMM Blocked</a:t>
            </a:r>
          </a:p>
        </p:txBody>
      </p:sp>
      <p:sp>
        <p:nvSpPr>
          <p:cNvPr id="3" name="Content Placeholder 2">
            <a:extLst>
              <a:ext uri="{FF2B5EF4-FFF2-40B4-BE49-F238E27FC236}">
                <a16:creationId xmlns:a16="http://schemas.microsoft.com/office/drawing/2014/main" id="{D1B5130B-6153-FE3C-FA3C-F9E839F487E6}"/>
              </a:ext>
            </a:extLst>
          </p:cNvPr>
          <p:cNvSpPr>
            <a:spLocks noGrp="1"/>
          </p:cNvSpPr>
          <p:nvPr>
            <p:ph idx="1"/>
          </p:nvPr>
        </p:nvSpPr>
        <p:spPr>
          <a:xfrm>
            <a:off x="6573077" y="2052116"/>
            <a:ext cx="3997061" cy="3997828"/>
          </a:xfrm>
        </p:spPr>
        <p:txBody>
          <a:bodyPr>
            <a:normAutofit lnSpcReduction="10000"/>
          </a:bodyPr>
          <a:lstStyle/>
          <a:p>
            <a:r>
              <a:rPr lang="en-US" dirty="0"/>
              <a:t>Reduces N * N into </a:t>
            </a:r>
            <a:r>
              <a:rPr lang="en-US" dirty="0" err="1"/>
              <a:t>N_b</a:t>
            </a:r>
            <a:r>
              <a:rPr lang="en-US" dirty="0"/>
              <a:t> * </a:t>
            </a:r>
            <a:r>
              <a:rPr lang="en-US" dirty="0" err="1"/>
              <a:t>N_b</a:t>
            </a:r>
            <a:r>
              <a:rPr lang="en-US" dirty="0"/>
              <a:t> blocks</a:t>
            </a:r>
          </a:p>
          <a:p>
            <a:r>
              <a:rPr lang="en-US" dirty="0"/>
              <a:t>Number of blocks is calculated as N / block size, where N is the size of the matrix and </a:t>
            </a:r>
            <a:r>
              <a:rPr lang="en-US" dirty="0" err="1"/>
              <a:t>block_size</a:t>
            </a:r>
            <a:r>
              <a:rPr lang="en-US" dirty="0"/>
              <a:t> is the size of the blocks. The number of blocks is used to determine how many times to iterate through the outermost loops</a:t>
            </a:r>
          </a:p>
          <a:p>
            <a:endParaRPr lang="en-US" dirty="0"/>
          </a:p>
        </p:txBody>
      </p:sp>
      <p:sp>
        <p:nvSpPr>
          <p:cNvPr id="4" name="TextBox 3">
            <a:extLst>
              <a:ext uri="{FF2B5EF4-FFF2-40B4-BE49-F238E27FC236}">
                <a16:creationId xmlns:a16="http://schemas.microsoft.com/office/drawing/2014/main" id="{EAC73704-5511-1C00-17B4-8586DE830595}"/>
              </a:ext>
            </a:extLst>
          </p:cNvPr>
          <p:cNvSpPr txBox="1"/>
          <p:nvPr/>
        </p:nvSpPr>
        <p:spPr>
          <a:xfrm>
            <a:off x="1034799" y="1885285"/>
            <a:ext cx="4941931" cy="4801314"/>
          </a:xfrm>
          <a:prstGeom prst="rect">
            <a:avLst/>
          </a:prstGeom>
          <a:noFill/>
        </p:spPr>
        <p:txBody>
          <a:bodyPr wrap="square" rtlCol="0">
            <a:spAutoFit/>
          </a:bodyPr>
          <a:lstStyle/>
          <a:p>
            <a:r>
              <a:rPr lang="en-US" dirty="0" err="1"/>
              <a:t>dgemm_blocked</a:t>
            </a:r>
            <a:r>
              <a:rPr lang="en-US" dirty="0"/>
              <a:t>(n, </a:t>
            </a:r>
            <a:r>
              <a:rPr lang="en-US" dirty="0" err="1"/>
              <a:t>block_size</a:t>
            </a:r>
            <a:r>
              <a:rPr lang="en-US" dirty="0"/>
              <a:t>, A, B, C)</a:t>
            </a:r>
          </a:p>
          <a:p>
            <a:r>
              <a:rPr lang="en-US" dirty="0" err="1"/>
              <a:t>num_blocks</a:t>
            </a:r>
            <a:r>
              <a:rPr lang="en-US" dirty="0"/>
              <a:t> = n / </a:t>
            </a:r>
            <a:r>
              <a:rPr lang="en-US" dirty="0" err="1"/>
              <a:t>block_size</a:t>
            </a:r>
            <a:endParaRPr lang="en-US" dirty="0"/>
          </a:p>
          <a:p>
            <a:br>
              <a:rPr lang="en-US" dirty="0"/>
            </a:br>
            <a:endParaRPr lang="en-US" dirty="0"/>
          </a:p>
          <a:p>
            <a:r>
              <a:rPr lang="en-US" dirty="0"/>
              <a:t>for </a:t>
            </a:r>
            <a:r>
              <a:rPr lang="en-US" dirty="0" err="1"/>
              <a:t>i</a:t>
            </a:r>
            <a:r>
              <a:rPr lang="en-US" dirty="0"/>
              <a:t> from 0 to </a:t>
            </a:r>
            <a:r>
              <a:rPr lang="en-US" dirty="0" err="1"/>
              <a:t>num_blocks</a:t>
            </a:r>
            <a:r>
              <a:rPr lang="en-US" dirty="0"/>
              <a:t> -1:</a:t>
            </a:r>
          </a:p>
          <a:p>
            <a:r>
              <a:rPr lang="en-US" dirty="0"/>
              <a:t>for j from 0 to </a:t>
            </a:r>
            <a:r>
              <a:rPr lang="en-US" dirty="0" err="1"/>
              <a:t>num_blocks</a:t>
            </a:r>
            <a:r>
              <a:rPr lang="en-US" dirty="0"/>
              <a:t> - 1:</a:t>
            </a:r>
          </a:p>
          <a:p>
            <a:r>
              <a:rPr lang="en-US" dirty="0" err="1"/>
              <a:t>C_cache</a:t>
            </a:r>
            <a:r>
              <a:rPr lang="en-US" dirty="0"/>
              <a:t> = C[</a:t>
            </a:r>
            <a:r>
              <a:rPr lang="en-US" dirty="0" err="1"/>
              <a:t>i</a:t>
            </a:r>
            <a:r>
              <a:rPr lang="en-US" dirty="0"/>
              <a:t>, j]</a:t>
            </a:r>
          </a:p>
          <a:p>
            <a:br>
              <a:rPr lang="en-US" dirty="0"/>
            </a:br>
            <a:endParaRPr lang="en-US" dirty="0"/>
          </a:p>
          <a:p>
            <a:r>
              <a:rPr lang="en-US" dirty="0"/>
              <a:t>for k from 0 to </a:t>
            </a:r>
            <a:r>
              <a:rPr lang="en-US" dirty="0" err="1"/>
              <a:t>num_blocks</a:t>
            </a:r>
            <a:r>
              <a:rPr lang="en-US" dirty="0"/>
              <a:t> - 1:</a:t>
            </a:r>
          </a:p>
          <a:p>
            <a:r>
              <a:rPr lang="en-US" dirty="0" err="1"/>
              <a:t>A_cache</a:t>
            </a:r>
            <a:r>
              <a:rPr lang="en-US" dirty="0"/>
              <a:t> = A[</a:t>
            </a:r>
            <a:r>
              <a:rPr lang="en-US" dirty="0" err="1"/>
              <a:t>i</a:t>
            </a:r>
            <a:r>
              <a:rPr lang="en-US" dirty="0"/>
              <a:t>, k]</a:t>
            </a:r>
          </a:p>
          <a:p>
            <a:r>
              <a:rPr lang="en-US" dirty="0" err="1"/>
              <a:t>B_cache</a:t>
            </a:r>
            <a:r>
              <a:rPr lang="en-US" dirty="0"/>
              <a:t> = B[k, j]</a:t>
            </a:r>
          </a:p>
          <a:p>
            <a:r>
              <a:rPr lang="en-US" dirty="0" err="1"/>
              <a:t>C_cache</a:t>
            </a:r>
            <a:r>
              <a:rPr lang="en-US" dirty="0"/>
              <a:t> = </a:t>
            </a:r>
            <a:r>
              <a:rPr lang="en-US" dirty="0" err="1"/>
              <a:t>C_cache</a:t>
            </a:r>
            <a:r>
              <a:rPr lang="en-US" dirty="0"/>
              <a:t> + (</a:t>
            </a:r>
            <a:r>
              <a:rPr lang="en-US" dirty="0" err="1"/>
              <a:t>A_cache</a:t>
            </a:r>
            <a:r>
              <a:rPr lang="en-US" dirty="0"/>
              <a:t> * </a:t>
            </a:r>
            <a:r>
              <a:rPr lang="en-US" dirty="0" err="1"/>
              <a:t>B_cache</a:t>
            </a:r>
            <a:r>
              <a:rPr lang="en-US" dirty="0"/>
              <a:t>)</a:t>
            </a:r>
          </a:p>
          <a:p>
            <a:br>
              <a:rPr lang="en-US" dirty="0"/>
            </a:br>
            <a:endParaRPr lang="en-US" dirty="0"/>
          </a:p>
          <a:p>
            <a:r>
              <a:rPr lang="en-US" dirty="0"/>
              <a:t>C[</a:t>
            </a:r>
            <a:r>
              <a:rPr lang="en-US" dirty="0" err="1"/>
              <a:t>i</a:t>
            </a:r>
            <a:r>
              <a:rPr lang="en-US" dirty="0"/>
              <a:t>, j] = </a:t>
            </a:r>
            <a:r>
              <a:rPr lang="en-US" dirty="0" err="1"/>
              <a:t>C_cache</a:t>
            </a:r>
            <a:endParaRPr lang="en-US" dirty="0"/>
          </a:p>
          <a:p>
            <a:endParaRPr lang="en-US" dirty="0"/>
          </a:p>
        </p:txBody>
      </p:sp>
    </p:spTree>
    <p:extLst>
      <p:ext uri="{BB962C8B-B14F-4D97-AF65-F5344CB8AC3E}">
        <p14:creationId xmlns:p14="http://schemas.microsoft.com/office/powerpoint/2010/main" val="56688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6FE7-D8E1-6202-00F8-A3D8C3062961}"/>
              </a:ext>
            </a:extLst>
          </p:cNvPr>
          <p:cNvSpPr>
            <a:spLocks noGrp="1"/>
          </p:cNvSpPr>
          <p:nvPr>
            <p:ph type="title"/>
          </p:nvPr>
        </p:nvSpPr>
        <p:spPr/>
        <p:txBody>
          <a:bodyPr/>
          <a:lstStyle/>
          <a:p>
            <a:r>
              <a:rPr lang="en-US" dirty="0"/>
              <a:t>DGEMM BLAS</a:t>
            </a:r>
          </a:p>
        </p:txBody>
      </p:sp>
      <p:sp>
        <p:nvSpPr>
          <p:cNvPr id="3" name="Content Placeholder 2">
            <a:extLst>
              <a:ext uri="{FF2B5EF4-FFF2-40B4-BE49-F238E27FC236}">
                <a16:creationId xmlns:a16="http://schemas.microsoft.com/office/drawing/2014/main" id="{8384D216-BA1D-6510-B220-10463F7B4146}"/>
              </a:ext>
            </a:extLst>
          </p:cNvPr>
          <p:cNvSpPr>
            <a:spLocks noGrp="1"/>
          </p:cNvSpPr>
          <p:nvPr>
            <p:ph idx="1"/>
          </p:nvPr>
        </p:nvSpPr>
        <p:spPr/>
        <p:txBody>
          <a:bodyPr/>
          <a:lstStyle/>
          <a:p>
            <a:r>
              <a:rPr lang="en-US" dirty="0"/>
              <a:t>Originates from </a:t>
            </a:r>
            <a:r>
              <a:rPr lang="en-US" dirty="0" err="1"/>
              <a:t>OpenBLAS</a:t>
            </a:r>
            <a:endParaRPr lang="en-US" dirty="0"/>
          </a:p>
          <a:p>
            <a:r>
              <a:rPr lang="en-US" dirty="0"/>
              <a:t>Uses the BLAS </a:t>
            </a:r>
            <a:r>
              <a:rPr lang="en-US" dirty="0" err="1"/>
              <a:t>libarary</a:t>
            </a:r>
            <a:r>
              <a:rPr lang="en-US" dirty="0"/>
              <a:t> from the GotoBLAS2-1.13 BSD version</a:t>
            </a:r>
          </a:p>
          <a:p>
            <a:r>
              <a:rPr lang="en-US" dirty="0"/>
              <a:t>Disregard first N = 64 for cache warmup</a:t>
            </a:r>
          </a:p>
        </p:txBody>
      </p:sp>
    </p:spTree>
    <p:extLst>
      <p:ext uri="{BB962C8B-B14F-4D97-AF65-F5344CB8AC3E}">
        <p14:creationId xmlns:p14="http://schemas.microsoft.com/office/powerpoint/2010/main" val="3120938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41A5-51C8-F5C3-6915-017B5AA58009}"/>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E9798E3E-3C84-C82E-037B-03D61B98E425}"/>
              </a:ext>
            </a:extLst>
          </p:cNvPr>
          <p:cNvSpPr>
            <a:spLocks noGrp="1"/>
          </p:cNvSpPr>
          <p:nvPr>
            <p:ph idx="1"/>
          </p:nvPr>
        </p:nvSpPr>
        <p:spPr/>
        <p:txBody>
          <a:bodyPr/>
          <a:lstStyle/>
          <a:p>
            <a:r>
              <a:rPr lang="en-US" dirty="0"/>
              <a:t>Given the three matrix multiplication algorithms evaluate them all with N sizes of 64, 128, 256, 512, 1024, and 2048.</a:t>
            </a:r>
          </a:p>
          <a:p>
            <a:r>
              <a:rPr lang="en-US" dirty="0"/>
              <a:t>Capture total FLOPs at 2N^3</a:t>
            </a:r>
          </a:p>
          <a:p>
            <a:pPr lvl="1"/>
            <a:r>
              <a:rPr lang="en-US" dirty="0"/>
              <a:t>For N multiplications and N-1 additions</a:t>
            </a:r>
          </a:p>
          <a:p>
            <a:r>
              <a:rPr lang="en-US" dirty="0"/>
              <a:t>MFLOPS/s is calculated by dividing the FLOPs by the elapsed time in seconds and multiplying by 1,000,000 to convert to millions of FLOPs per second</a:t>
            </a:r>
          </a:p>
          <a:p>
            <a:pPr lvl="1"/>
            <a:endParaRPr lang="en-US" dirty="0"/>
          </a:p>
        </p:txBody>
      </p:sp>
    </p:spTree>
    <p:extLst>
      <p:ext uri="{BB962C8B-B14F-4D97-AF65-F5344CB8AC3E}">
        <p14:creationId xmlns:p14="http://schemas.microsoft.com/office/powerpoint/2010/main" val="2909384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E0E48-F88A-1EE9-E244-45576EDBC447}"/>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EB408765-04A9-D499-6C90-BA767A1DA0ED}"/>
              </a:ext>
            </a:extLst>
          </p:cNvPr>
          <p:cNvSpPr>
            <a:spLocks noGrp="1"/>
          </p:cNvSpPr>
          <p:nvPr>
            <p:ph idx="1"/>
          </p:nvPr>
        </p:nvSpPr>
        <p:spPr/>
        <p:txBody>
          <a:bodyPr/>
          <a:lstStyle/>
          <a:p>
            <a:r>
              <a:rPr lang="en-US" dirty="0"/>
              <a:t>MFLOP/s = 2N^3/(seconds * 10^6)</a:t>
            </a:r>
          </a:p>
          <a:p>
            <a:r>
              <a:rPr lang="en-US" dirty="0"/>
              <a:t>Timing</a:t>
            </a:r>
          </a:p>
          <a:p>
            <a:pPr lvl="1"/>
            <a:r>
              <a:rPr lang="en-US" dirty="0"/>
              <a:t>Used std::chrono to compute elapsed run time</a:t>
            </a:r>
          </a:p>
          <a:p>
            <a:r>
              <a:rPr lang="en-US" dirty="0"/>
              <a:t>Matrix Test Sizes</a:t>
            </a:r>
          </a:p>
          <a:p>
            <a:pPr lvl="1"/>
            <a:r>
              <a:rPr lang="en-US" dirty="0"/>
              <a:t>N = 64, 128, 256, 512, 1024, and 2048</a:t>
            </a:r>
          </a:p>
          <a:p>
            <a:r>
              <a:rPr lang="en-US" dirty="0"/>
              <a:t>Block Sizes</a:t>
            </a:r>
          </a:p>
          <a:p>
            <a:pPr lvl="1"/>
            <a:r>
              <a:rPr lang="en-US" dirty="0" err="1"/>
              <a:t>N_b</a:t>
            </a:r>
            <a:r>
              <a:rPr lang="en-US" dirty="0"/>
              <a:t> = 2, 16, 32, and 64</a:t>
            </a:r>
          </a:p>
        </p:txBody>
      </p:sp>
    </p:spTree>
    <p:extLst>
      <p:ext uri="{BB962C8B-B14F-4D97-AF65-F5344CB8AC3E}">
        <p14:creationId xmlns:p14="http://schemas.microsoft.com/office/powerpoint/2010/main" val="2952920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871C6-2D0E-5B63-FB67-53E024269452}"/>
              </a:ext>
            </a:extLst>
          </p:cNvPr>
          <p:cNvSpPr>
            <a:spLocks noGrp="1"/>
          </p:cNvSpPr>
          <p:nvPr>
            <p:ph type="title"/>
          </p:nvPr>
        </p:nvSpPr>
        <p:spPr/>
        <p:txBody>
          <a:bodyPr/>
          <a:lstStyle/>
          <a:p>
            <a:r>
              <a:rPr lang="en-US" dirty="0"/>
              <a:t>Basic Vs BLAS</a:t>
            </a:r>
          </a:p>
        </p:txBody>
      </p:sp>
      <p:pic>
        <p:nvPicPr>
          <p:cNvPr id="5" name="Content Placeholder 4">
            <a:extLst>
              <a:ext uri="{FF2B5EF4-FFF2-40B4-BE49-F238E27FC236}">
                <a16:creationId xmlns:a16="http://schemas.microsoft.com/office/drawing/2014/main" id="{9A1F1F8C-1BD3-68CE-2F07-56CE46D7E31C}"/>
              </a:ext>
            </a:extLst>
          </p:cNvPr>
          <p:cNvPicPr>
            <a:picLocks noGrp="1" noChangeAspect="1"/>
          </p:cNvPicPr>
          <p:nvPr>
            <p:ph idx="1"/>
          </p:nvPr>
        </p:nvPicPr>
        <p:blipFill>
          <a:blip r:embed="rId2"/>
          <a:stretch>
            <a:fillRect/>
          </a:stretch>
        </p:blipFill>
        <p:spPr>
          <a:xfrm>
            <a:off x="6833720" y="2590997"/>
            <a:ext cx="4032173" cy="3024130"/>
          </a:xfrm>
          <a:prstGeom prst="rect">
            <a:avLst/>
          </a:prstGeom>
        </p:spPr>
      </p:pic>
      <p:sp>
        <p:nvSpPr>
          <p:cNvPr id="11" name="TextBox 10">
            <a:extLst>
              <a:ext uri="{FF2B5EF4-FFF2-40B4-BE49-F238E27FC236}">
                <a16:creationId xmlns:a16="http://schemas.microsoft.com/office/drawing/2014/main" id="{0A635327-D4CF-FCE9-0DDD-AA41D33B94B0}"/>
              </a:ext>
            </a:extLst>
          </p:cNvPr>
          <p:cNvSpPr txBox="1"/>
          <p:nvPr/>
        </p:nvSpPr>
        <p:spPr>
          <a:xfrm>
            <a:off x="1878677" y="2590997"/>
            <a:ext cx="3640974" cy="2031325"/>
          </a:xfrm>
          <a:prstGeom prst="rect">
            <a:avLst/>
          </a:prstGeom>
          <a:noFill/>
        </p:spPr>
        <p:txBody>
          <a:bodyPr wrap="square" rtlCol="0">
            <a:spAutoFit/>
          </a:bodyPr>
          <a:lstStyle/>
          <a:p>
            <a:pPr marL="285750" indent="-285750">
              <a:buFont typeface="Arial" panose="020B0604020202020204" pitchFamily="34" charset="0"/>
              <a:buChar char="•"/>
            </a:pPr>
            <a:r>
              <a:rPr lang="en-US" dirty="0"/>
              <a:t>BLAS outperforms basic in every test size</a:t>
            </a:r>
          </a:p>
          <a:p>
            <a:pPr marL="285750" indent="-285750">
              <a:buFont typeface="Arial" panose="020B0604020202020204" pitchFamily="34" charset="0"/>
              <a:buChar char="•"/>
            </a:pPr>
            <a:r>
              <a:rPr lang="en-US" dirty="0"/>
              <a:t>The highest performance in the Basic implementation is likely due to higher cache hit rate as the test size more closely aligns with cache size</a:t>
            </a:r>
          </a:p>
        </p:txBody>
      </p:sp>
    </p:spTree>
    <p:extLst>
      <p:ext uri="{BB962C8B-B14F-4D97-AF65-F5344CB8AC3E}">
        <p14:creationId xmlns:p14="http://schemas.microsoft.com/office/powerpoint/2010/main" val="903972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74C67-7D8A-720E-23D8-B98DA95246D3}"/>
              </a:ext>
            </a:extLst>
          </p:cNvPr>
          <p:cNvSpPr>
            <a:spLocks noGrp="1"/>
          </p:cNvSpPr>
          <p:nvPr>
            <p:ph type="title"/>
          </p:nvPr>
        </p:nvSpPr>
        <p:spPr/>
        <p:txBody>
          <a:bodyPr/>
          <a:lstStyle/>
          <a:p>
            <a:r>
              <a:rPr lang="en-US" dirty="0"/>
              <a:t>Blocked Vs BLAS</a:t>
            </a:r>
          </a:p>
        </p:txBody>
      </p:sp>
      <p:pic>
        <p:nvPicPr>
          <p:cNvPr id="5" name="Content Placeholder 4">
            <a:extLst>
              <a:ext uri="{FF2B5EF4-FFF2-40B4-BE49-F238E27FC236}">
                <a16:creationId xmlns:a16="http://schemas.microsoft.com/office/drawing/2014/main" id="{852990AD-78AC-56D5-CC84-C045B4DBCD10}"/>
              </a:ext>
            </a:extLst>
          </p:cNvPr>
          <p:cNvPicPr>
            <a:picLocks noGrp="1" noChangeAspect="1"/>
          </p:cNvPicPr>
          <p:nvPr>
            <p:ph idx="1"/>
          </p:nvPr>
        </p:nvPicPr>
        <p:blipFill>
          <a:blip r:embed="rId2"/>
          <a:stretch>
            <a:fillRect/>
          </a:stretch>
        </p:blipFill>
        <p:spPr>
          <a:xfrm>
            <a:off x="5685757" y="2052619"/>
            <a:ext cx="5329766" cy="3997325"/>
          </a:xfrm>
          <a:prstGeom prst="rect">
            <a:avLst/>
          </a:prstGeom>
        </p:spPr>
      </p:pic>
      <p:sp>
        <p:nvSpPr>
          <p:cNvPr id="6" name="TextBox 5">
            <a:extLst>
              <a:ext uri="{FF2B5EF4-FFF2-40B4-BE49-F238E27FC236}">
                <a16:creationId xmlns:a16="http://schemas.microsoft.com/office/drawing/2014/main" id="{9CAAB9E1-9E44-2836-4F13-6D1B007F8053}"/>
              </a:ext>
            </a:extLst>
          </p:cNvPr>
          <p:cNvSpPr txBox="1"/>
          <p:nvPr/>
        </p:nvSpPr>
        <p:spPr>
          <a:xfrm>
            <a:off x="1176477" y="2363797"/>
            <a:ext cx="4122964" cy="1754326"/>
          </a:xfrm>
          <a:prstGeom prst="rect">
            <a:avLst/>
          </a:prstGeom>
          <a:noFill/>
        </p:spPr>
        <p:txBody>
          <a:bodyPr wrap="square" rtlCol="0">
            <a:spAutoFit/>
          </a:bodyPr>
          <a:lstStyle/>
          <a:p>
            <a:pPr marL="285750" indent="-285750">
              <a:buFont typeface="Arial" panose="020B0604020202020204" pitchFamily="34" charset="0"/>
              <a:buChar char="•"/>
            </a:pPr>
            <a:r>
              <a:rPr lang="en-US" dirty="0"/>
              <a:t>Once again BLAS optimizations outperform the Blocked implementation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can notice block sizes 16 and 32 are the highest performers</a:t>
            </a:r>
          </a:p>
        </p:txBody>
      </p:sp>
    </p:spTree>
    <p:extLst>
      <p:ext uri="{BB962C8B-B14F-4D97-AF65-F5344CB8AC3E}">
        <p14:creationId xmlns:p14="http://schemas.microsoft.com/office/powerpoint/2010/main" val="177405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A31EE-EC77-DA13-ACF6-C2707ABF23AF}"/>
              </a:ext>
            </a:extLst>
          </p:cNvPr>
          <p:cNvSpPr>
            <a:spLocks noGrp="1"/>
          </p:cNvSpPr>
          <p:nvPr>
            <p:ph type="title"/>
          </p:nvPr>
        </p:nvSpPr>
        <p:spPr/>
        <p:txBody>
          <a:bodyPr/>
          <a:lstStyle/>
          <a:p>
            <a:r>
              <a:rPr lang="en-US" dirty="0"/>
              <a:t>Basic v BLAS</a:t>
            </a:r>
          </a:p>
        </p:txBody>
      </p:sp>
      <p:pic>
        <p:nvPicPr>
          <p:cNvPr id="5" name="Content Placeholder 4">
            <a:extLst>
              <a:ext uri="{FF2B5EF4-FFF2-40B4-BE49-F238E27FC236}">
                <a16:creationId xmlns:a16="http://schemas.microsoft.com/office/drawing/2014/main" id="{3313D630-4B8A-DD12-8106-A2401F68DEA0}"/>
              </a:ext>
            </a:extLst>
          </p:cNvPr>
          <p:cNvPicPr>
            <a:picLocks noGrp="1" noChangeAspect="1"/>
          </p:cNvPicPr>
          <p:nvPr>
            <p:ph idx="1"/>
          </p:nvPr>
        </p:nvPicPr>
        <p:blipFill>
          <a:blip r:embed="rId2"/>
          <a:stretch>
            <a:fillRect/>
          </a:stretch>
        </p:blipFill>
        <p:spPr>
          <a:xfrm>
            <a:off x="5519503" y="2052619"/>
            <a:ext cx="5329766" cy="3997325"/>
          </a:xfrm>
          <a:prstGeom prst="rect">
            <a:avLst/>
          </a:prstGeom>
        </p:spPr>
      </p:pic>
      <p:sp>
        <p:nvSpPr>
          <p:cNvPr id="6" name="TextBox 5">
            <a:extLst>
              <a:ext uri="{FF2B5EF4-FFF2-40B4-BE49-F238E27FC236}">
                <a16:creationId xmlns:a16="http://schemas.microsoft.com/office/drawing/2014/main" id="{B1FFC84E-3A0D-9FA8-0421-29F019872546}"/>
              </a:ext>
            </a:extLst>
          </p:cNvPr>
          <p:cNvSpPr txBox="1"/>
          <p:nvPr/>
        </p:nvSpPr>
        <p:spPr>
          <a:xfrm>
            <a:off x="1596044" y="2052618"/>
            <a:ext cx="369085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L1 Cache Capacity: 32KB</a:t>
            </a:r>
          </a:p>
          <a:p>
            <a:pPr marL="285750" indent="-285750">
              <a:buFont typeface="Arial" panose="020B0604020202020204" pitchFamily="34" charset="0"/>
              <a:buChar char="•"/>
            </a:pPr>
            <a:r>
              <a:rPr lang="en-US" dirty="0"/>
              <a:t>Calculation: 3 * (B * B) * .008KB</a:t>
            </a:r>
          </a:p>
          <a:p>
            <a:pPr marL="742950" lvl="1" indent="-285750">
              <a:buFont typeface="Arial" panose="020B0604020202020204" pitchFamily="34" charset="0"/>
              <a:buChar char="•"/>
            </a:pPr>
            <a:r>
              <a:rPr lang="en-US" dirty="0"/>
              <a:t>3 = A,B,C</a:t>
            </a:r>
          </a:p>
          <a:p>
            <a:pPr marL="742950" lvl="1" indent="-285750">
              <a:buFont typeface="Arial" panose="020B0604020202020204" pitchFamily="34" charset="0"/>
              <a:buChar char="•"/>
            </a:pPr>
            <a:r>
              <a:rPr lang="en-US" dirty="0"/>
              <a:t>B = Block Size</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 = 2: 0.1KB</a:t>
            </a:r>
          </a:p>
          <a:p>
            <a:pPr marL="285750" indent="-285750">
              <a:buFont typeface="Arial" panose="020B0604020202020204" pitchFamily="34" charset="0"/>
              <a:buChar char="•"/>
            </a:pPr>
            <a:r>
              <a:rPr lang="en-US" dirty="0"/>
              <a:t>B = 16: 6.14KB</a:t>
            </a:r>
          </a:p>
          <a:p>
            <a:pPr marL="285750" indent="-285750">
              <a:buFont typeface="Arial" panose="020B0604020202020204" pitchFamily="34" charset="0"/>
              <a:buChar char="•"/>
            </a:pPr>
            <a:r>
              <a:rPr lang="en-US" dirty="0"/>
              <a:t>B = 32: 24.58</a:t>
            </a:r>
          </a:p>
          <a:p>
            <a:pPr marL="285750" indent="-285750">
              <a:buFont typeface="Arial" panose="020B0604020202020204" pitchFamily="34" charset="0"/>
              <a:buChar char="•"/>
            </a:pPr>
            <a:r>
              <a:rPr lang="en-US" dirty="0"/>
              <a:t>B = 64: 98.3KB</a:t>
            </a:r>
          </a:p>
        </p:txBody>
      </p:sp>
    </p:spTree>
    <p:extLst>
      <p:ext uri="{BB962C8B-B14F-4D97-AF65-F5344CB8AC3E}">
        <p14:creationId xmlns:p14="http://schemas.microsoft.com/office/powerpoint/2010/main" val="2103910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0B2A8-9677-A1F3-7EA0-763257233B61}"/>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7BF270D3-5CC4-B6E5-3C40-D1128E37D0F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754872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90</TotalTime>
  <Words>746</Words>
  <Application>Microsoft Macintosh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MS Shell Dlg 2</vt:lpstr>
      <vt:lpstr>Wingdings</vt:lpstr>
      <vt:lpstr>Wingdings 3</vt:lpstr>
      <vt:lpstr>Madison</vt:lpstr>
      <vt:lpstr>Matrix Multiplication &amp; Cache Optimizations </vt:lpstr>
      <vt:lpstr>Overview</vt:lpstr>
      <vt:lpstr>Problem Statement</vt:lpstr>
      <vt:lpstr>Approach</vt:lpstr>
      <vt:lpstr>DGEMM Basic</vt:lpstr>
      <vt:lpstr>DGEMM Blocked</vt:lpstr>
      <vt:lpstr>DGEMM BLAS</vt:lpstr>
      <vt:lpstr>Methodology</vt:lpstr>
      <vt:lpstr>Metrics</vt:lpstr>
      <vt:lpstr>Basic Vs BLAS</vt:lpstr>
      <vt:lpstr>Blocked Vs BLAS</vt:lpstr>
      <vt:lpstr>Basic v BLAS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Cordano</dc:creator>
  <cp:lastModifiedBy>Jacob Cordano</cp:lastModifiedBy>
  <cp:revision>1</cp:revision>
  <dcterms:created xsi:type="dcterms:W3CDTF">2026-09-22T20:11:55Z</dcterms:created>
  <dcterms:modified xsi:type="dcterms:W3CDTF">2026-09-22T21:42:26Z</dcterms:modified>
</cp:coreProperties>
</file>